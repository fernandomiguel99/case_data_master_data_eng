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3" r:id="rId4"/>
    <p:sldId id="259" r:id="rId5"/>
    <p:sldId id="260" r:id="rId6"/>
    <p:sldId id="264" r:id="rId7"/>
    <p:sldId id="261" r:id="rId8"/>
    <p:sldId id="265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3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D93FAB-4F55-4704-903F-3D2883F2072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97D6F3-FD9D-49E5-8DD2-186AA35B7314}">
      <dgm:prSet/>
      <dgm:spPr/>
      <dgm:t>
        <a:bodyPr/>
        <a:lstStyle/>
        <a:p>
          <a:r>
            <a:rPr lang="pt-BR"/>
            <a:t>Implementação de uma Data Warehouse;</a:t>
          </a:r>
          <a:endParaRPr lang="en-US"/>
        </a:p>
      </dgm:t>
    </dgm:pt>
    <dgm:pt modelId="{AA7E8735-452A-48F9-A673-F7936983FDCB}" type="parTrans" cxnId="{053BFB67-15FB-46A4-9C65-D094E97C0B6A}">
      <dgm:prSet/>
      <dgm:spPr/>
      <dgm:t>
        <a:bodyPr/>
        <a:lstStyle/>
        <a:p>
          <a:endParaRPr lang="en-US"/>
        </a:p>
      </dgm:t>
    </dgm:pt>
    <dgm:pt modelId="{2125BF34-F73C-4970-A49B-DD5CF31861C8}" type="sibTrans" cxnId="{053BFB67-15FB-46A4-9C65-D094E97C0B6A}">
      <dgm:prSet/>
      <dgm:spPr/>
      <dgm:t>
        <a:bodyPr/>
        <a:lstStyle/>
        <a:p>
          <a:endParaRPr lang="en-US"/>
        </a:p>
      </dgm:t>
    </dgm:pt>
    <dgm:pt modelId="{5B193C4D-1254-4857-879A-7746F82B4A93}">
      <dgm:prSet/>
      <dgm:spPr/>
      <dgm:t>
        <a:bodyPr/>
        <a:lstStyle/>
        <a:p>
          <a:r>
            <a:rPr lang="pt-BR" dirty="0"/>
            <a:t>Estrutura de camadas “</a:t>
          </a:r>
          <a:r>
            <a:rPr lang="pt-BR" dirty="0" err="1"/>
            <a:t>Medallion</a:t>
          </a:r>
          <a:r>
            <a:rPr lang="pt-BR" dirty="0"/>
            <a:t>”;</a:t>
          </a:r>
          <a:endParaRPr lang="en-US" dirty="0"/>
        </a:p>
      </dgm:t>
    </dgm:pt>
    <dgm:pt modelId="{401DA67D-25DB-4D57-ACF6-9EF78E6EF0FE}" type="parTrans" cxnId="{14A59759-4A0E-486E-B45D-A532D8B5A712}">
      <dgm:prSet/>
      <dgm:spPr/>
      <dgm:t>
        <a:bodyPr/>
        <a:lstStyle/>
        <a:p>
          <a:endParaRPr lang="en-US"/>
        </a:p>
      </dgm:t>
    </dgm:pt>
    <dgm:pt modelId="{612DC0A8-25FA-4FE4-961E-8100AC8F30D0}" type="sibTrans" cxnId="{14A59759-4A0E-486E-B45D-A532D8B5A712}">
      <dgm:prSet/>
      <dgm:spPr/>
      <dgm:t>
        <a:bodyPr/>
        <a:lstStyle/>
        <a:p>
          <a:endParaRPr lang="en-US"/>
        </a:p>
      </dgm:t>
    </dgm:pt>
    <dgm:pt modelId="{33C5B77D-7249-4606-9288-6B51153838C1}">
      <dgm:prSet/>
      <dgm:spPr/>
      <dgm:t>
        <a:bodyPr/>
        <a:lstStyle/>
        <a:p>
          <a:r>
            <a:rPr lang="pt-BR"/>
            <a:t>Consumo e verificação dos dados.</a:t>
          </a:r>
          <a:endParaRPr lang="en-US"/>
        </a:p>
      </dgm:t>
    </dgm:pt>
    <dgm:pt modelId="{1C383ABE-49C1-4BFB-99E9-ADFADBF05CA4}" type="parTrans" cxnId="{93E156AB-33E3-455C-A388-E851799FD4EE}">
      <dgm:prSet/>
      <dgm:spPr/>
      <dgm:t>
        <a:bodyPr/>
        <a:lstStyle/>
        <a:p>
          <a:endParaRPr lang="en-US"/>
        </a:p>
      </dgm:t>
    </dgm:pt>
    <dgm:pt modelId="{6B09D359-DF08-4050-BA10-94848CC7806F}" type="sibTrans" cxnId="{93E156AB-33E3-455C-A388-E851799FD4EE}">
      <dgm:prSet/>
      <dgm:spPr/>
      <dgm:t>
        <a:bodyPr/>
        <a:lstStyle/>
        <a:p>
          <a:endParaRPr lang="en-US"/>
        </a:p>
      </dgm:t>
    </dgm:pt>
    <dgm:pt modelId="{78B0531F-86B8-4150-A214-DBCEB8590D89}" type="pres">
      <dgm:prSet presAssocID="{4CD93FAB-4F55-4704-903F-3D2883F207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A52D32-A986-4CCA-9F5E-BF3198687EFF}" type="pres">
      <dgm:prSet presAssocID="{E497D6F3-FD9D-49E5-8DD2-186AA35B7314}" presName="hierRoot1" presStyleCnt="0"/>
      <dgm:spPr/>
    </dgm:pt>
    <dgm:pt modelId="{4BF827C7-27AC-4233-A242-CD330FB42FB7}" type="pres">
      <dgm:prSet presAssocID="{E497D6F3-FD9D-49E5-8DD2-186AA35B7314}" presName="composite" presStyleCnt="0"/>
      <dgm:spPr/>
    </dgm:pt>
    <dgm:pt modelId="{52811E31-7202-4078-8CF2-E9AB4A3765D7}" type="pres">
      <dgm:prSet presAssocID="{E497D6F3-FD9D-49E5-8DD2-186AA35B7314}" presName="background" presStyleLbl="node0" presStyleIdx="0" presStyleCnt="3"/>
      <dgm:spPr/>
    </dgm:pt>
    <dgm:pt modelId="{CED4A5E8-38AD-4144-962B-D99ED38B3E79}" type="pres">
      <dgm:prSet presAssocID="{E497D6F3-FD9D-49E5-8DD2-186AA35B7314}" presName="text" presStyleLbl="fgAcc0" presStyleIdx="0" presStyleCnt="3">
        <dgm:presLayoutVars>
          <dgm:chPref val="3"/>
        </dgm:presLayoutVars>
      </dgm:prSet>
      <dgm:spPr/>
    </dgm:pt>
    <dgm:pt modelId="{60C8FD28-046B-4AFE-88B1-E936589468AA}" type="pres">
      <dgm:prSet presAssocID="{E497D6F3-FD9D-49E5-8DD2-186AA35B7314}" presName="hierChild2" presStyleCnt="0"/>
      <dgm:spPr/>
    </dgm:pt>
    <dgm:pt modelId="{04B267EC-77F4-44E0-9320-45039FE17C55}" type="pres">
      <dgm:prSet presAssocID="{5B193C4D-1254-4857-879A-7746F82B4A93}" presName="hierRoot1" presStyleCnt="0"/>
      <dgm:spPr/>
    </dgm:pt>
    <dgm:pt modelId="{60B34B2B-1A81-4C9A-AB72-074A3D16A7BD}" type="pres">
      <dgm:prSet presAssocID="{5B193C4D-1254-4857-879A-7746F82B4A93}" presName="composite" presStyleCnt="0"/>
      <dgm:spPr/>
    </dgm:pt>
    <dgm:pt modelId="{C09C34A9-7F0A-4E98-B954-E000DFE09AD9}" type="pres">
      <dgm:prSet presAssocID="{5B193C4D-1254-4857-879A-7746F82B4A93}" presName="background" presStyleLbl="node0" presStyleIdx="1" presStyleCnt="3"/>
      <dgm:spPr/>
    </dgm:pt>
    <dgm:pt modelId="{B549D521-7E4E-4288-9F24-748596934149}" type="pres">
      <dgm:prSet presAssocID="{5B193C4D-1254-4857-879A-7746F82B4A93}" presName="text" presStyleLbl="fgAcc0" presStyleIdx="1" presStyleCnt="3">
        <dgm:presLayoutVars>
          <dgm:chPref val="3"/>
        </dgm:presLayoutVars>
      </dgm:prSet>
      <dgm:spPr/>
    </dgm:pt>
    <dgm:pt modelId="{AEFC8834-58DE-499F-99CB-97F426E86071}" type="pres">
      <dgm:prSet presAssocID="{5B193C4D-1254-4857-879A-7746F82B4A93}" presName="hierChild2" presStyleCnt="0"/>
      <dgm:spPr/>
    </dgm:pt>
    <dgm:pt modelId="{E3A6CDA9-745F-4A2B-A5BF-39D1EB51A7F2}" type="pres">
      <dgm:prSet presAssocID="{33C5B77D-7249-4606-9288-6B51153838C1}" presName="hierRoot1" presStyleCnt="0"/>
      <dgm:spPr/>
    </dgm:pt>
    <dgm:pt modelId="{4D7EB0E6-9F7E-4B56-AB8A-04B97D581C77}" type="pres">
      <dgm:prSet presAssocID="{33C5B77D-7249-4606-9288-6B51153838C1}" presName="composite" presStyleCnt="0"/>
      <dgm:spPr/>
    </dgm:pt>
    <dgm:pt modelId="{28C77459-A00E-4E15-85C3-BB4AF8F18622}" type="pres">
      <dgm:prSet presAssocID="{33C5B77D-7249-4606-9288-6B51153838C1}" presName="background" presStyleLbl="node0" presStyleIdx="2" presStyleCnt="3"/>
      <dgm:spPr/>
    </dgm:pt>
    <dgm:pt modelId="{0C3BB5AB-EFF6-43A9-93C6-513A42B0214C}" type="pres">
      <dgm:prSet presAssocID="{33C5B77D-7249-4606-9288-6B51153838C1}" presName="text" presStyleLbl="fgAcc0" presStyleIdx="2" presStyleCnt="3">
        <dgm:presLayoutVars>
          <dgm:chPref val="3"/>
        </dgm:presLayoutVars>
      </dgm:prSet>
      <dgm:spPr/>
    </dgm:pt>
    <dgm:pt modelId="{4132A666-CB5D-46C2-84AB-6CEC7BF2A5AB}" type="pres">
      <dgm:prSet presAssocID="{33C5B77D-7249-4606-9288-6B51153838C1}" presName="hierChild2" presStyleCnt="0"/>
      <dgm:spPr/>
    </dgm:pt>
  </dgm:ptLst>
  <dgm:cxnLst>
    <dgm:cxn modelId="{D9D9E02E-7EDC-42A9-9D3C-D6667A337169}" type="presOf" srcId="{4CD93FAB-4F55-4704-903F-3D2883F20725}" destId="{78B0531F-86B8-4150-A214-DBCEB8590D89}" srcOrd="0" destOrd="0" presId="urn:microsoft.com/office/officeart/2005/8/layout/hierarchy1"/>
    <dgm:cxn modelId="{053BFB67-15FB-46A4-9C65-D094E97C0B6A}" srcId="{4CD93FAB-4F55-4704-903F-3D2883F20725}" destId="{E497D6F3-FD9D-49E5-8DD2-186AA35B7314}" srcOrd="0" destOrd="0" parTransId="{AA7E8735-452A-48F9-A673-F7936983FDCB}" sibTransId="{2125BF34-F73C-4970-A49B-DD5CF31861C8}"/>
    <dgm:cxn modelId="{7ECD7B76-F12F-4258-8956-77BA162F5844}" type="presOf" srcId="{E497D6F3-FD9D-49E5-8DD2-186AA35B7314}" destId="{CED4A5E8-38AD-4144-962B-D99ED38B3E79}" srcOrd="0" destOrd="0" presId="urn:microsoft.com/office/officeart/2005/8/layout/hierarchy1"/>
    <dgm:cxn modelId="{14A59759-4A0E-486E-B45D-A532D8B5A712}" srcId="{4CD93FAB-4F55-4704-903F-3D2883F20725}" destId="{5B193C4D-1254-4857-879A-7746F82B4A93}" srcOrd="1" destOrd="0" parTransId="{401DA67D-25DB-4D57-ACF6-9EF78E6EF0FE}" sibTransId="{612DC0A8-25FA-4FE4-961E-8100AC8F30D0}"/>
    <dgm:cxn modelId="{D26EE38B-C6F4-42FB-95D4-C18DD664AF62}" type="presOf" srcId="{5B193C4D-1254-4857-879A-7746F82B4A93}" destId="{B549D521-7E4E-4288-9F24-748596934149}" srcOrd="0" destOrd="0" presId="urn:microsoft.com/office/officeart/2005/8/layout/hierarchy1"/>
    <dgm:cxn modelId="{93E156AB-33E3-455C-A388-E851799FD4EE}" srcId="{4CD93FAB-4F55-4704-903F-3D2883F20725}" destId="{33C5B77D-7249-4606-9288-6B51153838C1}" srcOrd="2" destOrd="0" parTransId="{1C383ABE-49C1-4BFB-99E9-ADFADBF05CA4}" sibTransId="{6B09D359-DF08-4050-BA10-94848CC7806F}"/>
    <dgm:cxn modelId="{2753BBB0-2B69-40BF-A07A-698617977161}" type="presOf" srcId="{33C5B77D-7249-4606-9288-6B51153838C1}" destId="{0C3BB5AB-EFF6-43A9-93C6-513A42B0214C}" srcOrd="0" destOrd="0" presId="urn:microsoft.com/office/officeart/2005/8/layout/hierarchy1"/>
    <dgm:cxn modelId="{8C8C5E2D-0F69-406C-8EEC-1F997B19F2DD}" type="presParOf" srcId="{78B0531F-86B8-4150-A214-DBCEB8590D89}" destId="{62A52D32-A986-4CCA-9F5E-BF3198687EFF}" srcOrd="0" destOrd="0" presId="urn:microsoft.com/office/officeart/2005/8/layout/hierarchy1"/>
    <dgm:cxn modelId="{E21ABFFF-54B9-4096-8A8D-2AD44D4D88A8}" type="presParOf" srcId="{62A52D32-A986-4CCA-9F5E-BF3198687EFF}" destId="{4BF827C7-27AC-4233-A242-CD330FB42FB7}" srcOrd="0" destOrd="0" presId="urn:microsoft.com/office/officeart/2005/8/layout/hierarchy1"/>
    <dgm:cxn modelId="{A923C001-47B8-4605-82E8-5B3326A3D433}" type="presParOf" srcId="{4BF827C7-27AC-4233-A242-CD330FB42FB7}" destId="{52811E31-7202-4078-8CF2-E9AB4A3765D7}" srcOrd="0" destOrd="0" presId="urn:microsoft.com/office/officeart/2005/8/layout/hierarchy1"/>
    <dgm:cxn modelId="{EE27976D-F343-4C5A-8575-247D3E443D41}" type="presParOf" srcId="{4BF827C7-27AC-4233-A242-CD330FB42FB7}" destId="{CED4A5E8-38AD-4144-962B-D99ED38B3E79}" srcOrd="1" destOrd="0" presId="urn:microsoft.com/office/officeart/2005/8/layout/hierarchy1"/>
    <dgm:cxn modelId="{A05CB661-6653-4C0A-9F74-38AC48E084A3}" type="presParOf" srcId="{62A52D32-A986-4CCA-9F5E-BF3198687EFF}" destId="{60C8FD28-046B-4AFE-88B1-E936589468AA}" srcOrd="1" destOrd="0" presId="urn:microsoft.com/office/officeart/2005/8/layout/hierarchy1"/>
    <dgm:cxn modelId="{19576187-9CFE-4D0E-8D0C-26C2AD6B34FC}" type="presParOf" srcId="{78B0531F-86B8-4150-A214-DBCEB8590D89}" destId="{04B267EC-77F4-44E0-9320-45039FE17C55}" srcOrd="1" destOrd="0" presId="urn:microsoft.com/office/officeart/2005/8/layout/hierarchy1"/>
    <dgm:cxn modelId="{E68E4659-1B92-47B9-AB96-0D868584FE08}" type="presParOf" srcId="{04B267EC-77F4-44E0-9320-45039FE17C55}" destId="{60B34B2B-1A81-4C9A-AB72-074A3D16A7BD}" srcOrd="0" destOrd="0" presId="urn:microsoft.com/office/officeart/2005/8/layout/hierarchy1"/>
    <dgm:cxn modelId="{B638B465-BC0F-4620-9046-2E7E58829B3F}" type="presParOf" srcId="{60B34B2B-1A81-4C9A-AB72-074A3D16A7BD}" destId="{C09C34A9-7F0A-4E98-B954-E000DFE09AD9}" srcOrd="0" destOrd="0" presId="urn:microsoft.com/office/officeart/2005/8/layout/hierarchy1"/>
    <dgm:cxn modelId="{B9CFBA3F-84ED-4D15-99D7-8E9ED339593E}" type="presParOf" srcId="{60B34B2B-1A81-4C9A-AB72-074A3D16A7BD}" destId="{B549D521-7E4E-4288-9F24-748596934149}" srcOrd="1" destOrd="0" presId="urn:microsoft.com/office/officeart/2005/8/layout/hierarchy1"/>
    <dgm:cxn modelId="{3510A831-7F59-41D8-9F43-D3451882AEDE}" type="presParOf" srcId="{04B267EC-77F4-44E0-9320-45039FE17C55}" destId="{AEFC8834-58DE-499F-99CB-97F426E86071}" srcOrd="1" destOrd="0" presId="urn:microsoft.com/office/officeart/2005/8/layout/hierarchy1"/>
    <dgm:cxn modelId="{87DE9839-108A-4C51-96A6-99260D91D4D1}" type="presParOf" srcId="{78B0531F-86B8-4150-A214-DBCEB8590D89}" destId="{E3A6CDA9-745F-4A2B-A5BF-39D1EB51A7F2}" srcOrd="2" destOrd="0" presId="urn:microsoft.com/office/officeart/2005/8/layout/hierarchy1"/>
    <dgm:cxn modelId="{3B1DEF74-85C3-4F60-A5CA-B71FC215CDC5}" type="presParOf" srcId="{E3A6CDA9-745F-4A2B-A5BF-39D1EB51A7F2}" destId="{4D7EB0E6-9F7E-4B56-AB8A-04B97D581C77}" srcOrd="0" destOrd="0" presId="urn:microsoft.com/office/officeart/2005/8/layout/hierarchy1"/>
    <dgm:cxn modelId="{D959DB35-92F8-4691-B98A-CC3DE86F59C3}" type="presParOf" srcId="{4D7EB0E6-9F7E-4B56-AB8A-04B97D581C77}" destId="{28C77459-A00E-4E15-85C3-BB4AF8F18622}" srcOrd="0" destOrd="0" presId="urn:microsoft.com/office/officeart/2005/8/layout/hierarchy1"/>
    <dgm:cxn modelId="{74A7DA78-9354-418F-AEAC-4BEEEBADA1A4}" type="presParOf" srcId="{4D7EB0E6-9F7E-4B56-AB8A-04B97D581C77}" destId="{0C3BB5AB-EFF6-43A9-93C6-513A42B0214C}" srcOrd="1" destOrd="0" presId="urn:microsoft.com/office/officeart/2005/8/layout/hierarchy1"/>
    <dgm:cxn modelId="{CA7266E4-E889-4361-B3AF-C15463783332}" type="presParOf" srcId="{E3A6CDA9-745F-4A2B-A5BF-39D1EB51A7F2}" destId="{4132A666-CB5D-46C2-84AB-6CEC7BF2A5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11E31-7202-4078-8CF2-E9AB4A3765D7}">
      <dsp:nvSpPr>
        <dsp:cNvPr id="0" name=""/>
        <dsp:cNvSpPr/>
      </dsp:nvSpPr>
      <dsp:spPr>
        <a:xfrm>
          <a:off x="0" y="689566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4A5E8-38AD-4144-962B-D99ED38B3E79}">
      <dsp:nvSpPr>
        <dsp:cNvPr id="0" name=""/>
        <dsp:cNvSpPr/>
      </dsp:nvSpPr>
      <dsp:spPr>
        <a:xfrm>
          <a:off x="328612" y="1001748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Implementação de uma Data Warehouse;</a:t>
          </a:r>
          <a:endParaRPr lang="en-US" sz="3200" kern="1200"/>
        </a:p>
      </dsp:txBody>
      <dsp:txXfrm>
        <a:off x="383617" y="1056753"/>
        <a:ext cx="2847502" cy="1768010"/>
      </dsp:txXfrm>
    </dsp:sp>
    <dsp:sp modelId="{C09C34A9-7F0A-4E98-B954-E000DFE09AD9}">
      <dsp:nvSpPr>
        <dsp:cNvPr id="0" name=""/>
        <dsp:cNvSpPr/>
      </dsp:nvSpPr>
      <dsp:spPr>
        <a:xfrm>
          <a:off x="3614737" y="689566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9D521-7E4E-4288-9F24-748596934149}">
      <dsp:nvSpPr>
        <dsp:cNvPr id="0" name=""/>
        <dsp:cNvSpPr/>
      </dsp:nvSpPr>
      <dsp:spPr>
        <a:xfrm>
          <a:off x="3943350" y="1001748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Estrutura de camadas “</a:t>
          </a:r>
          <a:r>
            <a:rPr lang="pt-BR" sz="3200" kern="1200" dirty="0" err="1"/>
            <a:t>Medallion</a:t>
          </a:r>
          <a:r>
            <a:rPr lang="pt-BR" sz="3200" kern="1200" dirty="0"/>
            <a:t>”;</a:t>
          </a:r>
          <a:endParaRPr lang="en-US" sz="3200" kern="1200" dirty="0"/>
        </a:p>
      </dsp:txBody>
      <dsp:txXfrm>
        <a:off x="3998355" y="1056753"/>
        <a:ext cx="2847502" cy="1768010"/>
      </dsp:txXfrm>
    </dsp:sp>
    <dsp:sp modelId="{28C77459-A00E-4E15-85C3-BB4AF8F18622}">
      <dsp:nvSpPr>
        <dsp:cNvPr id="0" name=""/>
        <dsp:cNvSpPr/>
      </dsp:nvSpPr>
      <dsp:spPr>
        <a:xfrm>
          <a:off x="7229475" y="689566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BB5AB-EFF6-43A9-93C6-513A42B0214C}">
      <dsp:nvSpPr>
        <dsp:cNvPr id="0" name=""/>
        <dsp:cNvSpPr/>
      </dsp:nvSpPr>
      <dsp:spPr>
        <a:xfrm>
          <a:off x="7558087" y="1001748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Consumo e verificação dos dados.</a:t>
          </a:r>
          <a:endParaRPr lang="en-US" sz="3200" kern="1200"/>
        </a:p>
      </dsp:txBody>
      <dsp:txXfrm>
        <a:off x="7613092" y="1056753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4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71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40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0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15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64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90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41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44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26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88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9AB107-10E3-40D5-91C4-6432737E1C37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FFD95F-8401-473B-9BD5-749E0796EBA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77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ernandomiguel99/case_data_master_data_en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D3396-1820-8878-8ABB-857AB88C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Case Data Master Santander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8EE147-8273-FFDB-4272-29B47EF74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Engenharia de Dados: Data Warehouse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Fernando Miguel D’Andrea Lima							</a:t>
            </a:r>
            <a:r>
              <a:rPr lang="pt-BR" dirty="0">
                <a:hlinkClick r:id="rId2"/>
              </a:rPr>
              <a:t>GitHub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022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D7DAB-F35B-FB52-2F6F-FB1CBF9D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Objetivos</a:t>
            </a:r>
          </a:p>
        </p:txBody>
      </p:sp>
      <p:graphicFrame>
        <p:nvGraphicFramePr>
          <p:cNvPr id="25" name="Espaço Reservado para Conteúdo 2">
            <a:extLst>
              <a:ext uri="{FF2B5EF4-FFF2-40B4-BE49-F238E27FC236}">
                <a16:creationId xmlns:a16="http://schemas.microsoft.com/office/drawing/2014/main" id="{F7588A07-B432-0304-1C42-697DBD160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161752"/>
              </p:ext>
            </p:extLst>
          </p:nvPr>
        </p:nvGraphicFramePr>
        <p:xfrm>
          <a:off x="868680" y="1780438"/>
          <a:ext cx="10515600" cy="3569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5FC1C14-0660-EEA5-E92F-E62F7982DFF2}"/>
              </a:ext>
            </a:extLst>
          </p:cNvPr>
          <p:cNvGrpSpPr/>
          <p:nvPr/>
        </p:nvGrpSpPr>
        <p:grpSpPr>
          <a:xfrm>
            <a:off x="5423475" y="4735673"/>
            <a:ext cx="1794970" cy="1228198"/>
            <a:chOff x="7756158" y="2578198"/>
            <a:chExt cx="1794970" cy="122819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B890E774-4A25-5EF7-CBA4-D36379983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56158" y="3123525"/>
              <a:ext cx="679503" cy="679503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301D644-7B74-8A8D-6BAD-E1056CB73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68257" y="3123525"/>
              <a:ext cx="682871" cy="682871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877E9DA2-CC3A-68E5-5CC8-F63B33B86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37488" y="2578198"/>
              <a:ext cx="1028942" cy="1028942"/>
            </a:xfrm>
            <a:prstGeom prst="rect">
              <a:avLst/>
            </a:prstGeom>
          </p:spPr>
        </p:pic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21B70546-29B5-69E2-D8F8-227BF13F62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4274" y="4526899"/>
            <a:ext cx="1565709" cy="1565709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55D48A0-9C64-0EEB-E3E1-139F8F806F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6483" y="4566918"/>
            <a:ext cx="1565709" cy="156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DB971-3384-7233-F1E2-99D25CEF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pt-BR" b="1" dirty="0"/>
              <a:t>Estrutura utilizada</a:t>
            </a:r>
          </a:p>
        </p:txBody>
      </p:sp>
      <p:pic>
        <p:nvPicPr>
          <p:cNvPr id="2052" name="Picture 4" descr="Github icon (logo symbol png) red">
            <a:extLst>
              <a:ext uri="{FF2B5EF4-FFF2-40B4-BE49-F238E27FC236}">
                <a16:creationId xmlns:a16="http://schemas.microsoft.com/office/drawing/2014/main" id="{5C9A93D5-BFD5-E921-E850-6EBB430F3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4" r="17015" b="5"/>
          <a:stretch>
            <a:fillRect/>
          </a:stretch>
        </p:blipFill>
        <p:spPr bwMode="auto">
          <a:xfrm>
            <a:off x="3693979" y="1945194"/>
            <a:ext cx="2376058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99E6BD5-8B24-90CF-761C-F636C653C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9" r="16284" b="-5"/>
          <a:stretch>
            <a:fillRect/>
          </a:stretch>
        </p:blipFill>
        <p:spPr bwMode="auto">
          <a:xfrm>
            <a:off x="1036320" y="1945194"/>
            <a:ext cx="2376057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C73662-7646-1778-4A73-A23CA0783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639" y="1845734"/>
            <a:ext cx="4804041" cy="4023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1700" b="1" dirty="0" err="1"/>
              <a:t>Databricks</a:t>
            </a:r>
            <a:r>
              <a:rPr lang="pt-BR" sz="1700" b="1" dirty="0"/>
              <a:t> SQL Warehouse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Estrutura </a:t>
            </a:r>
            <a:r>
              <a:rPr lang="pt-BR" sz="1700" dirty="0" err="1"/>
              <a:t>Lakehouse</a:t>
            </a:r>
            <a:r>
              <a:rPr lang="pt-BR" sz="1700" dirty="0"/>
              <a:t>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Processamento </a:t>
            </a:r>
            <a:r>
              <a:rPr lang="pt-BR" sz="1700" dirty="0" err="1"/>
              <a:t>Serverless</a:t>
            </a:r>
            <a:r>
              <a:rPr lang="pt-BR" sz="1700" dirty="0"/>
              <a:t>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Volumes, </a:t>
            </a:r>
            <a:r>
              <a:rPr lang="pt-BR" sz="1700" dirty="0" err="1"/>
              <a:t>Schemas</a:t>
            </a:r>
            <a:r>
              <a:rPr lang="pt-BR" sz="1700" dirty="0"/>
              <a:t> e </a:t>
            </a:r>
            <a:r>
              <a:rPr lang="pt-BR" sz="1700" dirty="0" err="1"/>
              <a:t>Catalogs</a:t>
            </a:r>
            <a:r>
              <a:rPr lang="pt-BR" sz="1700" dirty="0"/>
              <a:t>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Alertas via e-mail de erros em processos;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Integração com ambiente </a:t>
            </a:r>
            <a:r>
              <a:rPr lang="pt-BR" sz="1700" dirty="0" err="1"/>
              <a:t>PowerBi</a:t>
            </a:r>
            <a:r>
              <a:rPr lang="pt-BR" sz="17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1700" dirty="0"/>
          </a:p>
          <a:p>
            <a:pPr marL="0" indent="0">
              <a:buNone/>
            </a:pPr>
            <a:r>
              <a:rPr lang="pt-BR" sz="1700" b="1" dirty="0"/>
              <a:t>GitHub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Versionamento de Código;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Colaboração;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700" dirty="0"/>
              <a:t>Segurança.</a:t>
            </a:r>
          </a:p>
        </p:txBody>
      </p:sp>
    </p:spTree>
    <p:extLst>
      <p:ext uri="{BB962C8B-B14F-4D97-AF65-F5344CB8AC3E}">
        <p14:creationId xmlns:p14="http://schemas.microsoft.com/office/powerpoint/2010/main" val="346915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3241D-3553-D403-D2B7-CEB14FC7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Fonte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FF3F2-D124-5D5C-27A9-2101224A1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Fonte de Dados: BNDES;</a:t>
            </a:r>
          </a:p>
          <a:p>
            <a:endParaRPr lang="pt-BR" dirty="0"/>
          </a:p>
          <a:p>
            <a:r>
              <a:rPr lang="pt-BR" dirty="0"/>
              <a:t>Base de dados pública com as informações de financiamentos não automáticas;</a:t>
            </a:r>
          </a:p>
          <a:p>
            <a:endParaRPr lang="pt-BR" dirty="0"/>
          </a:p>
          <a:p>
            <a:r>
              <a:rPr lang="pt-BR" dirty="0"/>
              <a:t>Base com tempestividade mensal, com informações sobre o destino do financiamento, cliente, prazo, taxas, valores e intermediários.</a:t>
            </a:r>
          </a:p>
          <a:p>
            <a:endParaRPr lang="pt-BR" dirty="0"/>
          </a:p>
          <a:p>
            <a:r>
              <a:rPr lang="pt-BR" dirty="0"/>
              <a:t>Dados extraídos em formato CSV.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1700" dirty="0"/>
              <a:t>https://dadosabertos.bndes.gov.br/dataset/operacoes-financiamento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A9CCAF-38B1-25B0-9504-AB0923E17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229" y="841651"/>
            <a:ext cx="4443663" cy="91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03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D3FDE-A6B4-254F-2B3C-D289206C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ELT &amp; 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81C713-4B1F-6F19-97D9-4FC7828D7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dirty="0"/>
              <a:t>Modelo de Dados: ELT( </a:t>
            </a:r>
            <a:r>
              <a:rPr lang="pt-BR" sz="2400" dirty="0" err="1"/>
              <a:t>Extract</a:t>
            </a:r>
            <a:r>
              <a:rPr lang="pt-BR" sz="2400" dirty="0"/>
              <a:t>, </a:t>
            </a:r>
            <a:r>
              <a:rPr lang="pt-BR" sz="2400" dirty="0" err="1"/>
              <a:t>Load</a:t>
            </a:r>
            <a:r>
              <a:rPr lang="pt-BR" sz="2400" dirty="0"/>
              <a:t>, </a:t>
            </a:r>
            <a:r>
              <a:rPr lang="pt-BR" sz="2400" dirty="0" err="1"/>
              <a:t>Transform</a:t>
            </a:r>
            <a:r>
              <a:rPr lang="pt-BR" sz="2400" dirty="0"/>
              <a:t>);</a:t>
            </a:r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r>
              <a:rPr lang="pt-BR" sz="2400" b="1" dirty="0"/>
              <a:t>Ambiente </a:t>
            </a:r>
            <a:r>
              <a:rPr lang="pt-BR" sz="2400" b="1" dirty="0" err="1"/>
              <a:t>Databricks</a:t>
            </a:r>
            <a:r>
              <a:rPr lang="pt-BR" sz="2400" b="1" dirty="0"/>
              <a:t>:</a:t>
            </a:r>
          </a:p>
          <a:p>
            <a:pPr lvl="1"/>
            <a:r>
              <a:rPr lang="pt-BR" sz="2000" dirty="0"/>
              <a:t>Volume para receber e salvar os .</a:t>
            </a:r>
            <a:r>
              <a:rPr lang="pt-BR" sz="2000" dirty="0" err="1"/>
              <a:t>CSVs</a:t>
            </a:r>
            <a:r>
              <a:rPr lang="pt-BR" sz="2000" dirty="0"/>
              <a:t>;</a:t>
            </a:r>
          </a:p>
          <a:p>
            <a:pPr lvl="1"/>
            <a:r>
              <a:rPr lang="pt-BR" sz="2000" dirty="0"/>
              <a:t>Python Notebooks para tratamentos e processamentos;</a:t>
            </a:r>
          </a:p>
          <a:p>
            <a:pPr lvl="1"/>
            <a:r>
              <a:rPr lang="pt-BR" sz="2000" dirty="0" err="1"/>
              <a:t>Job</a:t>
            </a:r>
            <a:r>
              <a:rPr lang="pt-BR" sz="2000" dirty="0"/>
              <a:t> Pipeline automatizado como orquestrador de </a:t>
            </a:r>
            <a:r>
              <a:rPr lang="pt-BR" sz="2000" dirty="0" err="1"/>
              <a:t>Tasks</a:t>
            </a:r>
            <a:r>
              <a:rPr lang="pt-BR" sz="2000" dirty="0"/>
              <a:t>;</a:t>
            </a:r>
          </a:p>
          <a:p>
            <a:pPr lvl="1"/>
            <a:r>
              <a:rPr lang="pt-BR" sz="2000" dirty="0" err="1"/>
              <a:t>Schema</a:t>
            </a:r>
            <a:r>
              <a:rPr lang="pt-BR" sz="2000" dirty="0"/>
              <a:t> e Data </a:t>
            </a:r>
            <a:r>
              <a:rPr lang="pt-BR" sz="2000" dirty="0" err="1"/>
              <a:t>Catalog</a:t>
            </a:r>
            <a:r>
              <a:rPr lang="pt-BR" sz="2000" dirty="0"/>
              <a:t> para e segurança de acessos;</a:t>
            </a:r>
          </a:p>
          <a:p>
            <a:pPr lvl="1"/>
            <a:r>
              <a:rPr lang="pt-BR" sz="2000" dirty="0"/>
              <a:t>Mascaramento de Dados Sensíveis.</a:t>
            </a:r>
          </a:p>
          <a:p>
            <a:pPr lvl="1"/>
            <a:endParaRPr lang="pt-BR" sz="2000" dirty="0"/>
          </a:p>
          <a:p>
            <a:pPr marL="0" indent="0">
              <a:buNone/>
            </a:pPr>
            <a:r>
              <a:rPr lang="pt-BR" sz="2400" b="1" dirty="0"/>
              <a:t>Estrutura </a:t>
            </a:r>
            <a:r>
              <a:rPr lang="pt-BR" sz="2400" b="1" dirty="0" err="1"/>
              <a:t>Medallion</a:t>
            </a:r>
            <a:r>
              <a:rPr lang="pt-BR" sz="2400" b="1" dirty="0"/>
              <a:t>:</a:t>
            </a:r>
          </a:p>
          <a:p>
            <a:pPr lvl="1"/>
            <a:r>
              <a:rPr lang="pt-BR" sz="2000" dirty="0"/>
              <a:t>Camada Bronze: Base importada do CSV com imposição do </a:t>
            </a:r>
            <a:r>
              <a:rPr lang="pt-BR" sz="2000" dirty="0" err="1"/>
              <a:t>Schema</a:t>
            </a:r>
            <a:r>
              <a:rPr lang="pt-BR" sz="2000" dirty="0"/>
              <a:t>;</a:t>
            </a:r>
          </a:p>
          <a:p>
            <a:pPr lvl="1"/>
            <a:r>
              <a:rPr lang="pt-BR" sz="2000" dirty="0"/>
              <a:t>Camada Silver: Base com campos selecionados e tratados e duplicadas regularizadas;</a:t>
            </a:r>
          </a:p>
          <a:p>
            <a:pPr lvl="1"/>
            <a:r>
              <a:rPr lang="pt-BR" sz="2000" dirty="0"/>
              <a:t>Camada Gold: Base final pronta para consumo no </a:t>
            </a:r>
            <a:r>
              <a:rPr lang="pt-BR" sz="2000" dirty="0" err="1"/>
              <a:t>PowerBi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400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BD15279-249C-59B1-B6DB-8090CFA64552}"/>
              </a:ext>
            </a:extLst>
          </p:cNvPr>
          <p:cNvGrpSpPr/>
          <p:nvPr/>
        </p:nvGrpSpPr>
        <p:grpSpPr>
          <a:xfrm>
            <a:off x="8171608" y="2582774"/>
            <a:ext cx="2857899" cy="2267267"/>
            <a:chOff x="6662848" y="2683358"/>
            <a:chExt cx="2857899" cy="226726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6B93CBA-2962-4442-FE5E-31D8EFAC9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2848" y="2683358"/>
              <a:ext cx="2857899" cy="1171739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D7527B1E-95A7-86FE-F312-FB84AA6D4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2032" y="3855097"/>
              <a:ext cx="1819529" cy="10955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367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0A81-D357-5066-DFC2-D5BB866E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7B062-0620-C96D-C8A9-B80B8F43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e Resultados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078010-E670-25F8-D2F2-DD92B3B05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37" y="2032986"/>
            <a:ext cx="3142961" cy="176288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3473550-0D9E-EA2D-FFC8-47BC3FB5A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4467848"/>
            <a:ext cx="3244452" cy="13554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10A631-B750-D14F-DE97-81CE05B86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037" y="4085595"/>
            <a:ext cx="3244452" cy="193953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E64D8-1B25-A482-C6BD-B562515D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277" y="2514694"/>
            <a:ext cx="10515600" cy="26422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Conexão da Camada Gold com Power BI;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Atualização Automática(</a:t>
            </a:r>
            <a:r>
              <a:rPr lang="pt-BR" dirty="0" err="1"/>
              <a:t>DirectQuery</a:t>
            </a:r>
            <a:r>
              <a:rPr lang="pt-BR" dirty="0"/>
              <a:t>) ou </a:t>
            </a:r>
            <a:r>
              <a:rPr lang="pt-BR" dirty="0" err="1"/>
              <a:t>On-Demand</a:t>
            </a:r>
            <a:r>
              <a:rPr lang="pt-BR" dirty="0"/>
              <a:t>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Alta Customização de visuais e integração </a:t>
            </a:r>
            <a:r>
              <a:rPr lang="pt-BR" dirty="0" err="1"/>
              <a:t>Embedded</a:t>
            </a:r>
            <a:r>
              <a:rPr lang="pt-BR" dirty="0"/>
              <a:t> em websites.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50501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7FD71-3A1A-6832-F9FC-4F538B4A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e Resultados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D230F3-251E-B115-5F7B-6CDA9DB3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1" y="1982759"/>
            <a:ext cx="7498080" cy="42056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676BC6D-83F4-F377-B68F-0E7CE00FE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146059"/>
            <a:ext cx="3244452" cy="193953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EA9124B-B30F-1710-EE08-8965E7F9E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037" y="4467848"/>
            <a:ext cx="3244452" cy="135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62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B87B-E45A-2C71-443D-C6F1CF98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E4B23-5B8C-144B-83F3-BCE06047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e Resultados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78295B3-8C8F-1168-063F-55500BC12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97" y="2187700"/>
            <a:ext cx="6435826" cy="3847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6D6C7E0-9156-FD4D-1610-4365EDA9A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01" y="2309864"/>
            <a:ext cx="3244452" cy="135543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2A0FA2B-F006-AD4C-5471-6557BD185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792" y="4019740"/>
            <a:ext cx="3142961" cy="176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64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32CE-D6EE-12AB-417E-84AFF337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09324-A4C4-0F9D-D401-45D4785B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e 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6DC2A0-1048-9291-A3E4-8C3B3E055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30" y="2454306"/>
            <a:ext cx="7494223" cy="313086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08D7D95-1DFB-E422-5D50-13F3D1312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216" y="2090356"/>
            <a:ext cx="3142961" cy="17628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92591B4-0445-EC10-818E-F173CD863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725" y="4019739"/>
            <a:ext cx="3244452" cy="19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11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5FDFF-A03F-E68D-D4F4-7DC4BC1B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Dificuldades e Melhorias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EF19A6-19EB-0D89-7CD0-2CCDD18D1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67764"/>
            <a:ext cx="10058400" cy="34859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Substituição da ingestão via arquivos .CSV por uma comunicação direta via API, removendo o risco operacional da carga manual.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Implementação de criptografia baseada em técnicas de HASH, a fim de reforçar a segurança e garantir a conformidade com a LGPD.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Criação de um script completo de configuração do ambiente de Data Warehouse, incluindo definição de grupos, regras de acesso e políticas, permitindo fácil acesso a </a:t>
            </a:r>
            <a:r>
              <a:rPr lang="pt-BR" dirty="0" err="1"/>
              <a:t>protipação</a:t>
            </a:r>
            <a:r>
              <a:rPr lang="pt-BR" dirty="0"/>
              <a:t> desse projeto.</a:t>
            </a:r>
          </a:p>
        </p:txBody>
      </p:sp>
    </p:spTree>
    <p:extLst>
      <p:ext uri="{BB962C8B-B14F-4D97-AF65-F5344CB8AC3E}">
        <p14:creationId xmlns:p14="http://schemas.microsoft.com/office/powerpoint/2010/main" val="13746945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Personalizada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FF0000"/>
      </a:accent1>
      <a:accent2>
        <a:srgbClr val="C00000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425</TotalTime>
  <Words>357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Courier New</vt:lpstr>
      <vt:lpstr>Wingdings</vt:lpstr>
      <vt:lpstr>Retrospectiva</vt:lpstr>
      <vt:lpstr>Case Data Master Santander</vt:lpstr>
      <vt:lpstr>Objetivos</vt:lpstr>
      <vt:lpstr>Estrutura utilizada</vt:lpstr>
      <vt:lpstr>Fonte de Dados</vt:lpstr>
      <vt:lpstr>ELT &amp; Processamento</vt:lpstr>
      <vt:lpstr>Visualização e Resultados</vt:lpstr>
      <vt:lpstr>Visualização e Resultados</vt:lpstr>
      <vt:lpstr>Visualização e Resultados</vt:lpstr>
      <vt:lpstr>Visualização e Resultados</vt:lpstr>
      <vt:lpstr>Dificuldades e Melhorias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DAndrea</dc:creator>
  <cp:lastModifiedBy>Fernando DAndrea</cp:lastModifiedBy>
  <cp:revision>16</cp:revision>
  <dcterms:created xsi:type="dcterms:W3CDTF">2026-04-05T20:15:05Z</dcterms:created>
  <dcterms:modified xsi:type="dcterms:W3CDTF">2026-04-14T02:31:37Z</dcterms:modified>
</cp:coreProperties>
</file>